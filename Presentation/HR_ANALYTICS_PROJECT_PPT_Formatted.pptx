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8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A56ECB-8FD4-4E58-853D-0A3A60CD2FE2}" v="1" dt="2026-06-24T06:40:56.5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444" autoAdjust="0"/>
  </p:normalViewPr>
  <p:slideViewPr>
    <p:cSldViewPr snapToGrid="0">
      <p:cViewPr varScale="1">
        <p:scale>
          <a:sx n="71" d="100"/>
          <a:sy n="71" d="100"/>
        </p:scale>
        <p:origin x="283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inela Mahendra" userId="d0cf76eab138bd19" providerId="LiveId" clId="{F4AE4413-422C-44DA-95D7-4B9673451FA7}"/>
    <pc:docChg chg="undo redo custSel addSld delSld modSld sldOrd">
      <pc:chgData name="Barinela Mahendra" userId="d0cf76eab138bd19" providerId="LiveId" clId="{F4AE4413-422C-44DA-95D7-4B9673451FA7}" dt="2026-06-24T06:45:18.064" v="100" actId="47"/>
      <pc:docMkLst>
        <pc:docMk/>
      </pc:docMkLst>
      <pc:sldChg chg="modSp mod">
        <pc:chgData name="Barinela Mahendra" userId="d0cf76eab138bd19" providerId="LiveId" clId="{F4AE4413-422C-44DA-95D7-4B9673451FA7}" dt="2026-06-24T06:23:24.987" v="14" actId="113"/>
        <pc:sldMkLst>
          <pc:docMk/>
          <pc:sldMk cId="4280761833" sldId="266"/>
        </pc:sldMkLst>
        <pc:spChg chg="mod">
          <ac:chgData name="Barinela Mahendra" userId="d0cf76eab138bd19" providerId="LiveId" clId="{F4AE4413-422C-44DA-95D7-4B9673451FA7}" dt="2026-06-24T06:23:24.987" v="14" actId="113"/>
          <ac:spMkLst>
            <pc:docMk/>
            <pc:sldMk cId="4280761833" sldId="266"/>
            <ac:spMk id="4" creationId="{9982C233-C2DC-487A-6D47-4020A3CC4345}"/>
          </ac:spMkLst>
        </pc:spChg>
      </pc:sldChg>
      <pc:sldChg chg="addSp new del mod ord">
        <pc:chgData name="Barinela Mahendra" userId="d0cf76eab138bd19" providerId="LiveId" clId="{F4AE4413-422C-44DA-95D7-4B9673451FA7}" dt="2026-06-24T06:45:18.064" v="100" actId="47"/>
        <pc:sldMkLst>
          <pc:docMk/>
          <pc:sldMk cId="1953443449" sldId="267"/>
        </pc:sldMkLst>
        <pc:spChg chg="add">
          <ac:chgData name="Barinela Mahendra" userId="d0cf76eab138bd19" providerId="LiveId" clId="{F4AE4413-422C-44DA-95D7-4B9673451FA7}" dt="2026-06-24T06:40:38.312" v="20" actId="22"/>
          <ac:spMkLst>
            <pc:docMk/>
            <pc:sldMk cId="1953443449" sldId="267"/>
            <ac:spMk id="3" creationId="{19F0D216-446D-A74E-53D2-4C93D69AB900}"/>
          </ac:spMkLst>
        </pc:spChg>
      </pc:sldChg>
      <pc:sldChg chg="addSp modSp new mod">
        <pc:chgData name="Barinela Mahendra" userId="d0cf76eab138bd19" providerId="LiveId" clId="{F4AE4413-422C-44DA-95D7-4B9673451FA7}" dt="2026-06-24T06:44:52.981" v="99" actId="113"/>
        <pc:sldMkLst>
          <pc:docMk/>
          <pc:sldMk cId="3892722773" sldId="268"/>
        </pc:sldMkLst>
        <pc:spChg chg="mod">
          <ac:chgData name="Barinela Mahendra" userId="d0cf76eab138bd19" providerId="LiveId" clId="{F4AE4413-422C-44DA-95D7-4B9673451FA7}" dt="2026-06-24T06:41:46.303" v="29" actId="14100"/>
          <ac:spMkLst>
            <pc:docMk/>
            <pc:sldMk cId="3892722773" sldId="268"/>
            <ac:spMk id="2" creationId="{BB297CF1-6676-BC69-F938-016BD55529F7}"/>
          </ac:spMkLst>
        </pc:spChg>
        <pc:spChg chg="add mod">
          <ac:chgData name="Barinela Mahendra" userId="d0cf76eab138bd19" providerId="LiveId" clId="{F4AE4413-422C-44DA-95D7-4B9673451FA7}" dt="2026-06-24T06:44:52.981" v="99" actId="113"/>
          <ac:spMkLst>
            <pc:docMk/>
            <pc:sldMk cId="3892722773" sldId="268"/>
            <ac:spMk id="4" creationId="{F8EF41A3-32BD-8A67-5561-E28419C46F9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60CAED-27C3-42BF-AFA4-C2E5523D7DC1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F3A3CB-AAFA-4E47-A233-7C54F2014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49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83CC3-3725-6011-D7F8-1232032ED9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0E49FE-CB95-2F75-CE00-CE9CF46633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2EB3C-1FCB-C265-2245-F8BAA8198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1BC6F-104D-46FC-BB1A-DB67318517CA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31B3A-A275-9E0F-1505-EAAFD62F9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B5E21-DCA3-41F8-1DBE-B7852B5A2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87695-9BB4-42FD-9A79-8579A3077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265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B85B2-0559-C8B7-5801-F3241AA1D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918B5-4C6C-E795-60BA-1F6803727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6EB6C-09E2-BB3F-369A-F904A5D0A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1BC6F-104D-46FC-BB1A-DB67318517CA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69711-BB96-96AF-5153-4EE32FA74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6A723-9968-8940-AE84-671E8164C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87695-9BB4-42FD-9A79-8579A3077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521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F19AD-FCDB-D12E-5B4F-1EC57BD45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5AAC11-5CDA-EC2A-FA85-D1802EA0F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3EA22-C305-7720-0E0F-33544B18B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1BC6F-104D-46FC-BB1A-DB67318517CA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69E34-8192-AA5D-4DEB-846213018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FE242-BBDF-7643-81BD-E22F4AC1B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87695-9BB4-42FD-9A79-8579A3077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855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ADDFD-DE6E-C34A-D58C-D10CB07BA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03446-B565-1095-C678-C3B36073AE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BAFCE5-136A-6F58-8B9C-6C6E3D432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B2C625-E3FA-22CA-2563-E96A56A77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1BC6F-104D-46FC-BB1A-DB67318517CA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D11044-0360-AA69-1368-25264AC45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14309D-E163-AE17-1E1E-3A3DD68CC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87695-9BB4-42FD-9A79-8579A3077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33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ACFDF-57F2-68A2-F466-AC940647B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695E50-2606-BC96-1ED4-D4CD47718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BD4E5-CDDF-73E6-2E16-0E9D28C350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1BBCF1-FAAC-1C73-F137-8FC454B43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B3D16D-DB4F-4FE8-5877-28942D15B9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07A0E0-7741-003C-86A8-2FE3B31F1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1BC6F-104D-46FC-BB1A-DB67318517CA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D00EED-F824-997E-3910-8897A457D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D68F61-8A2B-25A6-410A-01C2B8DCE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87695-9BB4-42FD-9A79-8579A3077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285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D1001-1E8B-1E15-3B54-FC3263450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D80051-5D0C-E895-468D-58F631BC7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1BC6F-104D-46FC-BB1A-DB67318517CA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73C7A8-E014-CB07-D3C2-AAEAE112E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697117-AB16-C96B-8A67-3D043DA7F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87695-9BB4-42FD-9A79-8579A3077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171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EEC83F-2578-1302-EF40-B32CAAE1A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1BC6F-104D-46FC-BB1A-DB67318517CA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54667A-EB6C-4B23-F58A-ED3DB0B57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BE4D92-9143-8896-D66A-26399D544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87695-9BB4-42FD-9A79-8579A3077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2850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C0B44-3FDA-ED03-EF2A-7906EC03D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F72C5-5A8B-5924-3799-5B916171B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34731B-48F8-F07B-F86C-94AAE167C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2C95EA-A696-9333-A8B9-546AEC503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1BC6F-104D-46FC-BB1A-DB67318517CA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E770CE-8E4B-9C68-6DDB-9A72E8B87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A28F8-8DCF-E900-CE7E-EAC115B4B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87695-9BB4-42FD-9A79-8579A3077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492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463CE-0616-EDA8-B972-D83808204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FD6E95-B433-EEB7-7B29-9F3226E348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A40B0E-3A5B-9466-FD44-7E518A6631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E57A2D-D5B3-533C-9765-12A3F0DF7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1BC6F-104D-46FC-BB1A-DB67318517CA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714C54-2C69-1E45-4EC9-3845A5FA4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E0A24C-4964-3720-FBBA-FCA174859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87695-9BB4-42FD-9A79-8579A3077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982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08D9C-4C04-B531-00AE-6F7DB0788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B2E7D3-6A7F-599C-85C7-76776530AF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632DD-AE32-63A9-D234-E9D8CCDF9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1BC6F-104D-46FC-BB1A-DB67318517CA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1873B-E23C-4C78-F2A9-DEC8381EC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BF0A5-A9AE-A41D-2A78-C5745923E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87695-9BB4-42FD-9A79-8579A3077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813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6843BA-9C1B-285B-9A42-406028437C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1105F9-696B-49E7-9201-5C18865CE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D25DA-CE3A-DF53-7644-65C491780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1BC6F-104D-46FC-BB1A-DB67318517CA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503E6-1FC0-93BE-2274-09A523968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D96A7-D3D3-F845-AF3F-75A27B7AC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87695-9BB4-42FD-9A79-8579A3077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269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1CA1C9-968E-6006-BFE9-0BDEDFC22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DC8137-B8D2-87F4-ADF3-FB6CCB768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A3EE1-E00C-40DB-29D7-F06C513449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1BC6F-104D-46FC-BB1A-DB67318517CA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E9A7A-7F4B-3274-91DD-B37FC3F82B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E9D9E-55B9-A489-8C77-10651F6679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C87695-9BB4-42FD-9A79-8579A3077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380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97CF1-6676-BC69-F938-016BD5552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55406"/>
            <a:ext cx="10616381" cy="334298"/>
          </a:xfrm>
        </p:spPr>
        <p:txBody>
          <a:bodyPr>
            <a:normAutofit fontScale="90000"/>
          </a:bodyPr>
          <a:lstStyle/>
          <a:p>
            <a:pPr algn="ctr"/>
            <a:r>
              <a:rPr lang="en-IN" sz="2800" b="1" dirty="0">
                <a:solidFill>
                  <a:schemeClr val="accent1"/>
                </a:solidFill>
                <a:latin typeface="Segoe UI"/>
              </a:rPr>
              <a:t>HR Analytics Dashboard</a:t>
            </a:r>
            <a:r>
              <a:rPr lang="en-IN" b="1" dirty="0"/>
              <a:t/>
            </a:r>
            <a:br>
              <a:rPr lang="en-IN" b="1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EF41A3-32BD-8A67-5561-E28419C46F91}"/>
              </a:ext>
            </a:extLst>
          </p:cNvPr>
          <p:cNvSpPr txBox="1"/>
          <p:nvPr/>
        </p:nvSpPr>
        <p:spPr>
          <a:xfrm>
            <a:off x="1514168" y="1930624"/>
            <a:ext cx="7639665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500" b="1" dirty="0">
                <a:latin typeface="Segoe UI"/>
              </a:rPr>
              <a:t>Prepared </a:t>
            </a:r>
            <a:r>
              <a:rPr lang="en-IN" sz="1500" b="1" dirty="0" smtClean="0">
                <a:latin typeface="Segoe UI"/>
              </a:rPr>
              <a:t>By : </a:t>
            </a:r>
            <a:r>
              <a:rPr lang="en-IN" sz="1500" dirty="0" smtClean="0">
                <a:latin typeface="Segoe UI"/>
              </a:rPr>
              <a:t>R. </a:t>
            </a:r>
            <a:r>
              <a:rPr lang="en-IN" sz="1500" dirty="0" err="1" smtClean="0">
                <a:latin typeface="Segoe UI"/>
              </a:rPr>
              <a:t>Prasanth</a:t>
            </a:r>
            <a:r>
              <a:rPr lang="en-IN" sz="1500" dirty="0" smtClean="0">
                <a:latin typeface="Segoe UI"/>
              </a:rPr>
              <a:t> </a:t>
            </a:r>
            <a:r>
              <a:rPr lang="en-IN" sz="1500" dirty="0">
                <a:latin typeface="Segoe UI"/>
              </a:rPr>
              <a:t>K</a:t>
            </a:r>
            <a:r>
              <a:rPr lang="en-IN" sz="1500" dirty="0" smtClean="0">
                <a:latin typeface="Segoe UI"/>
              </a:rPr>
              <a:t>umar Reddy.</a:t>
            </a: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sz="1500" b="1" dirty="0">
                <a:latin typeface="Segoe UI"/>
              </a:rPr>
              <a:t>Tools &amp; </a:t>
            </a:r>
            <a:r>
              <a:rPr lang="en-IN" sz="1500" b="1" dirty="0" smtClean="0">
                <a:latin typeface="Segoe UI"/>
              </a:rPr>
              <a:t>Technologies : </a:t>
            </a:r>
            <a:r>
              <a:rPr lang="en-IN" sz="1500" dirty="0" smtClean="0">
                <a:latin typeface="Segoe UI"/>
              </a:rPr>
              <a:t>Power </a:t>
            </a:r>
            <a:r>
              <a:rPr lang="en-IN" sz="1500" dirty="0">
                <a:latin typeface="Segoe UI"/>
              </a:rPr>
              <a:t>BI | SQL | Excel | Power Query | DAX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sz="1500" b="1" dirty="0">
                <a:latin typeface="Segoe UI"/>
              </a:rPr>
              <a:t>Project </a:t>
            </a:r>
            <a:r>
              <a:rPr lang="en-IN" sz="1500" b="1" dirty="0" smtClean="0">
                <a:latin typeface="Segoe UI"/>
              </a:rPr>
              <a:t>Objective : </a:t>
            </a:r>
            <a:r>
              <a:rPr lang="en-IN" sz="1500" dirty="0" err="1" smtClean="0">
                <a:latin typeface="Segoe UI"/>
              </a:rPr>
              <a:t>Analyzing</a:t>
            </a:r>
            <a:r>
              <a:rPr lang="en-IN" sz="1500" dirty="0" smtClean="0">
                <a:latin typeface="Segoe UI"/>
              </a:rPr>
              <a:t> </a:t>
            </a:r>
            <a:r>
              <a:rPr lang="en-IN" sz="1500" dirty="0">
                <a:latin typeface="Segoe UI"/>
              </a:rPr>
              <a:t>employee data to uncover workforce trends, demographics, hiring </a:t>
            </a:r>
            <a:r>
              <a:rPr lang="en-IN" sz="1500" dirty="0" smtClean="0">
                <a:latin typeface="Segoe UI"/>
              </a:rPr>
              <a:t>patterns</a:t>
            </a:r>
            <a:r>
              <a:rPr lang="en-IN" sz="1500" dirty="0">
                <a:latin typeface="Segoe UI"/>
              </a:rPr>
              <a:t>, and actionable HR insights.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sz="1500" b="1" dirty="0">
                <a:latin typeface="Segoe UI"/>
              </a:rPr>
              <a:t>Presented For:</a:t>
            </a:r>
            <a:r>
              <a:rPr lang="en-IN" sz="1500" dirty="0">
                <a:latin typeface="Segoe UI"/>
              </a:rPr>
              <a:t> Data Analytics Portfolio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sz="1500" b="1" dirty="0" smtClean="0">
                <a:latin typeface="Segoe UI"/>
              </a:rPr>
              <a:t>Date : </a:t>
            </a:r>
            <a:r>
              <a:rPr lang="en-IN" sz="1500" dirty="0" smtClean="0">
                <a:latin typeface="Segoe UI"/>
              </a:rPr>
              <a:t>June </a:t>
            </a:r>
            <a:r>
              <a:rPr lang="en-IN" sz="1500" dirty="0">
                <a:latin typeface="Segoe UI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892722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FF2B5EF4-FFF2-40B4-BE49-F238E27FC236}">
                <a16:creationId xmlns:a16="http://schemas.microsoft.com/office/drawing/2014/main" id="{401BABBF-61D9-64A7-7307-34310C3AFE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274" y="277166"/>
            <a:ext cx="9021882" cy="5029125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BEC9C22-9811-0090-B53A-52E2D614F1D6}"/>
              </a:ext>
            </a:extLst>
          </p:cNvPr>
          <p:cNvSpPr/>
          <p:nvPr/>
        </p:nvSpPr>
        <p:spPr>
          <a:xfrm>
            <a:off x="1995056" y="5417128"/>
            <a:ext cx="8894618" cy="239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01014"/>
                </a:solidFill>
                <a:latin typeface="Segoe UI" pitchFamily="34" charset="0"/>
                <a:ea typeface="Playfair Display Bold" pitchFamily="34" charset="-122"/>
                <a:cs typeface="Playfair Display Bold" pitchFamily="34" charset="-120"/>
              </a:rPr>
              <a:t>HR Analytics Dashboard: Workforce Insights and Employee Demographics Analysis</a:t>
            </a:r>
            <a:endParaRPr lang="en-US" sz="16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1E28DA7-C14A-00B0-CC04-B143685935C5}"/>
              </a:ext>
            </a:extLst>
          </p:cNvPr>
          <p:cNvSpPr/>
          <p:nvPr/>
        </p:nvSpPr>
        <p:spPr>
          <a:xfrm>
            <a:off x="1593273" y="5656981"/>
            <a:ext cx="9587345" cy="980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Power BI project by </a:t>
            </a:r>
            <a:r>
              <a:rPr lang="en-US" sz="1500" dirty="0" smtClean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R. </a:t>
            </a:r>
            <a:r>
              <a:rPr lang="en-US" sz="1500" dirty="0" err="1" smtClean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Prasanth</a:t>
            </a:r>
            <a:r>
              <a:rPr lang="en-US" sz="1500" dirty="0" smtClean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 Kumar Reddy </a:t>
            </a:r>
            <a:r>
              <a:rPr lang="en-US" sz="1500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— a professional portfolio piece for university submission, viva, and LinkedIn. Modern dark-blue &amp; purple theme designed to match the dashboard visuals. This deck tells a concise, data-driven story: dataset → analysis → insights → actionable recommendations.</a:t>
            </a:r>
            <a:endParaRPr lang="en-US" sz="650" dirty="0"/>
          </a:p>
        </p:txBody>
      </p:sp>
    </p:spTree>
    <p:extLst>
      <p:ext uri="{BB962C8B-B14F-4D97-AF65-F5344CB8AC3E}">
        <p14:creationId xmlns:p14="http://schemas.microsoft.com/office/powerpoint/2010/main" val="2888418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A930F78-0848-FB6D-A391-343D622F7A34}"/>
              </a:ext>
            </a:extLst>
          </p:cNvPr>
          <p:cNvSpPr/>
          <p:nvPr/>
        </p:nvSpPr>
        <p:spPr>
          <a:xfrm>
            <a:off x="634665" y="963275"/>
            <a:ext cx="4081946" cy="399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01014"/>
                </a:solidFill>
                <a:latin typeface="Segoe UI" pitchFamily="34" charset="0"/>
                <a:ea typeface="Playfair Display Bold" pitchFamily="34" charset="-122"/>
                <a:cs typeface="Playfair Display Bold" pitchFamily="34" charset="-120"/>
              </a:rPr>
              <a:t>Project Objective</a:t>
            </a:r>
            <a:endParaRPr lang="en-US" sz="27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CC80A34-7169-F40D-4D46-53084287B75B}"/>
              </a:ext>
            </a:extLst>
          </p:cNvPr>
          <p:cNvSpPr/>
          <p:nvPr/>
        </p:nvSpPr>
        <p:spPr>
          <a:xfrm>
            <a:off x="578784" y="1772305"/>
            <a:ext cx="3189085" cy="1656695"/>
          </a:xfrm>
          <a:prstGeom prst="roundRect">
            <a:avLst>
              <a:gd name="adj" fmla="val 1233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ED1F581-7ACD-EE2A-E8BB-8F6B792F6992}"/>
              </a:ext>
            </a:extLst>
          </p:cNvPr>
          <p:cNvSpPr/>
          <p:nvPr/>
        </p:nvSpPr>
        <p:spPr>
          <a:xfrm>
            <a:off x="1355035" y="1878256"/>
            <a:ext cx="1807728" cy="199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39393C"/>
                </a:solidFill>
                <a:latin typeface="Segoe UI" pitchFamily="34" charset="0"/>
                <a:ea typeface="Playfair Display Bold" pitchFamily="34" charset="-122"/>
                <a:cs typeface="Playfair Display Bold" pitchFamily="34" charset="-120"/>
              </a:rPr>
              <a:t>Purpose</a:t>
            </a:r>
            <a:endParaRPr lang="en-US" sz="13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1FBCB44-F31C-01B5-7681-67465A9E1F1A}"/>
              </a:ext>
            </a:extLst>
          </p:cNvPr>
          <p:cNvSpPr/>
          <p:nvPr/>
        </p:nvSpPr>
        <p:spPr>
          <a:xfrm>
            <a:off x="776422" y="2183410"/>
            <a:ext cx="2688138" cy="1245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Use HR analytics to reveal workforce composition, hiring patterns, and demographic trends to inform strategic HR decisions.</a:t>
            </a: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D27BA55-FED1-B9E4-870A-A12BD10BD486}"/>
              </a:ext>
            </a:extLst>
          </p:cNvPr>
          <p:cNvSpPr/>
          <p:nvPr/>
        </p:nvSpPr>
        <p:spPr>
          <a:xfrm>
            <a:off x="4419432" y="1785279"/>
            <a:ext cx="3189085" cy="1616983"/>
          </a:xfrm>
          <a:prstGeom prst="roundRect">
            <a:avLst>
              <a:gd name="adj" fmla="val 1233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6AD8B75-0DA9-38EE-FA4F-B347CF331E2E}"/>
              </a:ext>
            </a:extLst>
          </p:cNvPr>
          <p:cNvSpPr/>
          <p:nvPr/>
        </p:nvSpPr>
        <p:spPr>
          <a:xfrm>
            <a:off x="5023381" y="1918903"/>
            <a:ext cx="1807728" cy="199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39393C"/>
                </a:solidFill>
                <a:latin typeface="Segoe UI" pitchFamily="34" charset="0"/>
                <a:ea typeface="Playfair Display Bold" pitchFamily="34" charset="-122"/>
                <a:cs typeface="Playfair Display Bold" pitchFamily="34" charset="-120"/>
              </a:rPr>
              <a:t>Business Problem</a:t>
            </a:r>
            <a:endParaRPr lang="en-US" sz="13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EF63E65-8E11-FC9B-6EA9-EB9E2C2BFBCA}"/>
              </a:ext>
            </a:extLst>
          </p:cNvPr>
          <p:cNvSpPr/>
          <p:nvPr/>
        </p:nvSpPr>
        <p:spPr>
          <a:xfrm>
            <a:off x="4789780" y="2287486"/>
            <a:ext cx="2769260" cy="1060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Unseen workforce imbalances, unclear hiring patterns, and suboptimal location allocation that impact productivity and retention.</a:t>
            </a:r>
            <a:endParaRPr lang="en-US" sz="11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7F74067-1747-189B-E30E-89870A4A0FCA}"/>
              </a:ext>
            </a:extLst>
          </p:cNvPr>
          <p:cNvSpPr/>
          <p:nvPr/>
        </p:nvSpPr>
        <p:spPr>
          <a:xfrm>
            <a:off x="8216732" y="1785278"/>
            <a:ext cx="3297256" cy="1897722"/>
          </a:xfrm>
          <a:prstGeom prst="roundRect">
            <a:avLst>
              <a:gd name="adj" fmla="val 1233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7DFECBA-C4BC-1244-D11A-107E3D4D0F17}"/>
              </a:ext>
            </a:extLst>
          </p:cNvPr>
          <p:cNvSpPr/>
          <p:nvPr/>
        </p:nvSpPr>
        <p:spPr>
          <a:xfrm>
            <a:off x="8993170" y="1909804"/>
            <a:ext cx="1826328" cy="199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39393C"/>
                </a:solidFill>
                <a:latin typeface="Segoe UI" pitchFamily="34" charset="0"/>
                <a:ea typeface="Playfair Display Bold" pitchFamily="34" charset="-122"/>
                <a:cs typeface="Playfair Display Bold" pitchFamily="34" charset="-120"/>
              </a:rPr>
              <a:t>Dashboard Objectives</a:t>
            </a:r>
            <a:endParaRPr lang="en-US" sz="13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679FFA4-1539-811A-E8D7-AB593C5CA31F}"/>
              </a:ext>
            </a:extLst>
          </p:cNvPr>
          <p:cNvSpPr/>
          <p:nvPr/>
        </p:nvSpPr>
        <p:spPr>
          <a:xfrm>
            <a:off x="8514080" y="2228018"/>
            <a:ext cx="2773680" cy="1023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Provide actionable KPIs, trend analysis, and demographic breakdowns to guide workforce planning, diversity programs, and remote work policy.</a:t>
            </a:r>
            <a:endParaRPr lang="en-US" sz="14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43A3FB7F-B144-3AD5-64DE-4927F3DDF2A7}"/>
              </a:ext>
            </a:extLst>
          </p:cNvPr>
          <p:cNvSpPr/>
          <p:nvPr/>
        </p:nvSpPr>
        <p:spPr>
          <a:xfrm>
            <a:off x="634664" y="4205681"/>
            <a:ext cx="10922672" cy="1614054"/>
          </a:xfrm>
          <a:prstGeom prst="roundRect">
            <a:avLst>
              <a:gd name="adj" fmla="val 2038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7CC2A2-01E9-4C8D-F222-A82655A22E76}"/>
              </a:ext>
            </a:extLst>
          </p:cNvPr>
          <p:cNvSpPr txBox="1"/>
          <p:nvPr/>
        </p:nvSpPr>
        <p:spPr>
          <a:xfrm>
            <a:off x="1232520" y="4920775"/>
            <a:ext cx="9075261" cy="797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Quantifies gaps, measures progress, and supports evidence-based policy — reducing bias and aligning HR actions to business goals.</a:t>
            </a:r>
            <a:endParaRPr lang="en-US" sz="18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49503AA6-0E17-4E4B-3D70-01A72641946A}"/>
              </a:ext>
            </a:extLst>
          </p:cNvPr>
          <p:cNvSpPr/>
          <p:nvPr/>
        </p:nvSpPr>
        <p:spPr>
          <a:xfrm>
            <a:off x="1324614" y="4433455"/>
            <a:ext cx="2332986" cy="386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39393C"/>
                </a:solidFill>
                <a:latin typeface="Segoe UI" pitchFamily="34" charset="0"/>
                <a:ea typeface="Playfair Display Bold" pitchFamily="34" charset="-122"/>
                <a:cs typeface="Playfair Display Bold" pitchFamily="34" charset="-120"/>
              </a:rPr>
              <a:t>Why Data-Driven HR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933356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F404C00-CF3C-885D-45F4-C6F2126441FE}"/>
              </a:ext>
            </a:extLst>
          </p:cNvPr>
          <p:cNvSpPr/>
          <p:nvPr/>
        </p:nvSpPr>
        <p:spPr>
          <a:xfrm>
            <a:off x="1091865" y="785027"/>
            <a:ext cx="4263596" cy="578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01014"/>
                </a:solidFill>
                <a:latin typeface="Segoe UI" pitchFamily="34" charset="0"/>
                <a:ea typeface="Playfair Display Bold" pitchFamily="34" charset="-122"/>
                <a:cs typeface="Playfair Display Bold" pitchFamily="34" charset="-120"/>
              </a:rPr>
              <a:t>Dataset Overview</a:t>
            </a:r>
            <a:endParaRPr lang="en-US" sz="275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F61C3F53-0A97-3E2E-606E-B377F72EF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865" y="1904513"/>
            <a:ext cx="4158772" cy="288916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56006E5C-8DF3-32BB-36A4-B13BA22EB971}"/>
              </a:ext>
            </a:extLst>
          </p:cNvPr>
          <p:cNvSpPr/>
          <p:nvPr/>
        </p:nvSpPr>
        <p:spPr>
          <a:xfrm>
            <a:off x="5806144" y="1963664"/>
            <a:ext cx="4861856" cy="2348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Employee demographics: age, gender, race</a:t>
            </a:r>
            <a:endParaRPr lang="en-US" sz="16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Department and role information</a:t>
            </a:r>
            <a:endParaRPr lang="en-US" sz="16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Location: state and HQ vs Remote</a:t>
            </a:r>
            <a:endParaRPr lang="en-US" sz="16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Hiring dates and termination data (tenure calculation)</a:t>
            </a:r>
            <a:endParaRPr lang="en-US" sz="16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Data cleaning performed: deduplication, date normalization, null handling</a:t>
            </a:r>
            <a:endParaRPr lang="en-US" sz="1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CACC3D9-90FD-9936-D725-C05111C5C0ED}"/>
              </a:ext>
            </a:extLst>
          </p:cNvPr>
          <p:cNvSpPr/>
          <p:nvPr/>
        </p:nvSpPr>
        <p:spPr>
          <a:xfrm>
            <a:off x="5806144" y="4493784"/>
            <a:ext cx="5166656" cy="1272016"/>
          </a:xfrm>
          <a:prstGeom prst="roundRect">
            <a:avLst>
              <a:gd name="adj" fmla="val 2728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DBB6BC69-CBEE-74A4-585D-8919260F9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703" y="4814032"/>
            <a:ext cx="220867" cy="216644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D02409C4-2453-184D-F9D5-D1A377B07FC3}"/>
              </a:ext>
            </a:extLst>
          </p:cNvPr>
          <p:cNvSpPr/>
          <p:nvPr/>
        </p:nvSpPr>
        <p:spPr>
          <a:xfrm>
            <a:off x="6401890" y="4793673"/>
            <a:ext cx="3516826" cy="592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Data sources: HRIS export (MySQL), transformed with Power Query; measures computed with DAX.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6974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FF6D9214-0BF1-F0E0-8BA1-0C56BEC121E9}"/>
              </a:ext>
            </a:extLst>
          </p:cNvPr>
          <p:cNvSpPr/>
          <p:nvPr/>
        </p:nvSpPr>
        <p:spPr>
          <a:xfrm>
            <a:off x="661492" y="657226"/>
            <a:ext cx="5261272" cy="5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800" b="1" dirty="0">
                <a:solidFill>
                  <a:srgbClr val="101014"/>
                </a:solidFill>
                <a:latin typeface="Segoe UI" pitchFamily="34" charset="0"/>
                <a:ea typeface="Playfair Display Bold" pitchFamily="34" charset="-122"/>
                <a:cs typeface="Playfair Display Bold" pitchFamily="34" charset="-120"/>
              </a:rPr>
              <a:t>KPI Cards:</a:t>
            </a:r>
            <a:endParaRPr lang="en-US" sz="3600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65FFB4CA-0266-7FBF-A363-BA29FFC1B154}"/>
              </a:ext>
            </a:extLst>
          </p:cNvPr>
          <p:cNvSpPr/>
          <p:nvPr/>
        </p:nvSpPr>
        <p:spPr>
          <a:xfrm>
            <a:off x="5196979" y="1696542"/>
            <a:ext cx="4330899" cy="465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00" b="1" dirty="0">
                <a:solidFill>
                  <a:srgbClr val="101014"/>
                </a:solidFill>
                <a:latin typeface="Segoe UI" pitchFamily="34" charset="0"/>
                <a:ea typeface="Playfair Display Bold" pitchFamily="34" charset="-122"/>
                <a:cs typeface="Playfair Display Bold" pitchFamily="34" charset="-120"/>
              </a:rPr>
              <a:t>Selected KPI values</a:t>
            </a:r>
            <a:endParaRPr lang="en-US" sz="2867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6CED3EAF-D0D5-C9F9-69E6-14C76E1272D1}"/>
              </a:ext>
            </a:extLst>
          </p:cNvPr>
          <p:cNvSpPr/>
          <p:nvPr/>
        </p:nvSpPr>
        <p:spPr>
          <a:xfrm>
            <a:off x="5196979" y="2344838"/>
            <a:ext cx="5293221" cy="199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2000"/>
              </a:lnSpc>
            </a:pPr>
            <a:r>
              <a:rPr lang="en-US" sz="1500" b="1" dirty="0" smtClean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Total Employees:</a:t>
            </a:r>
            <a:r>
              <a:rPr lang="en-US" sz="1500" dirty="0" smtClean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 22,214 — the authoritative population for all analyses.</a:t>
            </a:r>
            <a:endParaRPr lang="en-US" sz="1400" dirty="0" smtClean="0"/>
          </a:p>
          <a:p>
            <a:pPr>
              <a:lnSpc>
                <a:spcPct val="132000"/>
              </a:lnSpc>
            </a:pPr>
            <a:r>
              <a:rPr lang="en-US" sz="1500" b="1" dirty="0" smtClean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Remote %:</a:t>
            </a:r>
            <a:r>
              <a:rPr lang="en-US" sz="1500" dirty="0" smtClean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 24.75% — nearly one quarter of staff operate remotely.</a:t>
            </a:r>
            <a:endParaRPr lang="en-US" sz="1400" dirty="0" smtClean="0"/>
          </a:p>
          <a:p>
            <a:pPr>
              <a:lnSpc>
                <a:spcPct val="132000"/>
              </a:lnSpc>
            </a:pPr>
            <a:r>
              <a:rPr lang="en-US" sz="1500" b="1" dirty="0" smtClean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HQ %:</a:t>
            </a:r>
            <a:r>
              <a:rPr lang="en-US" sz="1500" dirty="0" smtClean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 75.25% — three quarters located at headquarters.</a:t>
            </a:r>
            <a:endParaRPr lang="en-US" sz="1400" dirty="0" smtClean="0"/>
          </a:p>
          <a:p>
            <a:pPr>
              <a:lnSpc>
                <a:spcPct val="132000"/>
              </a:lnSpc>
            </a:pPr>
            <a:r>
              <a:rPr lang="en-US" sz="1500" b="1" dirty="0" smtClean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Ave</a:t>
            </a:r>
            <a:r>
              <a:rPr lang="en-US" sz="1500" b="1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rag</a:t>
            </a:r>
            <a:r>
              <a:rPr lang="en-US" sz="1500" b="1" dirty="0" smtClean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e Age:</a:t>
            </a:r>
            <a:r>
              <a:rPr lang="en-US" sz="1500" dirty="0" smtClean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 38.43 years — mid-career skew.</a:t>
            </a:r>
          </a:p>
          <a:p>
            <a:pPr>
              <a:lnSpc>
                <a:spcPct val="132000"/>
              </a:lnSpc>
            </a:pPr>
            <a:r>
              <a:rPr lang="en-US" sz="1500" b="1" dirty="0" smtClean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Active employees:</a:t>
            </a:r>
            <a:r>
              <a:rPr lang="en-US" sz="1500" dirty="0" smtClean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18k</a:t>
            </a:r>
            <a:r>
              <a:rPr lang="en-US" sz="1500" b="1" dirty="0" smtClean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500" dirty="0" smtClean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— approximately 18,000 employees are currently active, indicating a stable and engaged workforce.</a:t>
            </a:r>
            <a:endParaRPr lang="en-US" sz="1400" dirty="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7E365CA7-E34D-B04A-65CC-7515F969616E}"/>
              </a:ext>
            </a:extLst>
          </p:cNvPr>
          <p:cNvSpPr/>
          <p:nvPr/>
        </p:nvSpPr>
        <p:spPr>
          <a:xfrm>
            <a:off x="5196979" y="4981675"/>
            <a:ext cx="6339880" cy="1013024"/>
          </a:xfrm>
          <a:prstGeom prst="roundRect">
            <a:avLst>
              <a:gd name="adj" fmla="val 2755"/>
            </a:avLst>
          </a:prstGeom>
          <a:solidFill>
            <a:srgbClr val="D5D5D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A32183E3-E4AB-B2B4-2D10-8FCAA36D5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3016" y="5267225"/>
            <a:ext cx="232569" cy="186035"/>
          </a:xfrm>
          <a:prstGeom prst="rect">
            <a:avLst/>
          </a:prstGeom>
        </p:spPr>
      </p:pic>
      <p:sp>
        <p:nvSpPr>
          <p:cNvPr id="13" name="Text 4">
            <a:extLst>
              <a:ext uri="{FF2B5EF4-FFF2-40B4-BE49-F238E27FC236}">
                <a16:creationId xmlns:a16="http://schemas.microsoft.com/office/drawing/2014/main" id="{88B172FF-872A-A0F6-FD21-13EF2D1BEB97}"/>
              </a:ext>
            </a:extLst>
          </p:cNvPr>
          <p:cNvSpPr/>
          <p:nvPr/>
        </p:nvSpPr>
        <p:spPr>
          <a:xfrm>
            <a:off x="5801618" y="5192911"/>
            <a:ext cx="5549205" cy="5905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>
              <a:lnSpc>
                <a:spcPct val="132000"/>
              </a:lnSpc>
            </a:pPr>
            <a:r>
              <a:rPr lang="en-US" sz="1500" dirty="0">
                <a:solidFill>
                  <a:srgbClr val="000000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Business significance: KPIs set the context for capacity planning, talent programs, and remote-work policy decisions.</a:t>
            </a:r>
            <a:endParaRPr lang="en-US" sz="1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1A6B09F-73DE-58E0-06E5-6B544E3347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499" y="2050473"/>
            <a:ext cx="4396803" cy="293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331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>
            <a:extLst>
              <a:ext uri="{FF2B5EF4-FFF2-40B4-BE49-F238E27FC236}">
                <a16:creationId xmlns:a16="http://schemas.microsoft.com/office/drawing/2014/main" id="{910CEDD4-4CEC-0DFD-1E20-B7EC5425CEC6}"/>
              </a:ext>
            </a:extLst>
          </p:cNvPr>
          <p:cNvSpPr/>
          <p:nvPr/>
        </p:nvSpPr>
        <p:spPr>
          <a:xfrm>
            <a:off x="620810" y="394591"/>
            <a:ext cx="588347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01014"/>
                </a:solidFill>
                <a:latin typeface="Segoe UI" pitchFamily="34" charset="0"/>
                <a:ea typeface="Playfair Display Bold" pitchFamily="34" charset="-122"/>
                <a:cs typeface="Playfair Display Bold" pitchFamily="34" charset="-120"/>
              </a:rPr>
              <a:t>Hiring Trend — Hiring Rate by Year</a:t>
            </a:r>
            <a:endParaRPr lang="en-US" sz="260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19119752-67E2-D1CA-5060-76DA90377C27}"/>
              </a:ext>
            </a:extLst>
          </p:cNvPr>
          <p:cNvSpPr/>
          <p:nvPr/>
        </p:nvSpPr>
        <p:spPr>
          <a:xfrm>
            <a:off x="5711341" y="1369751"/>
            <a:ext cx="4829659" cy="3539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9000"/>
              </a:lnSpc>
            </a:pPr>
            <a:r>
              <a:rPr lang="en-US" sz="1500" b="1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Trend summary:</a:t>
            </a:r>
            <a:r>
              <a:rPr lang="en-US" sz="1500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00" dirty="0"/>
              <a:t>Hiring activity increased steadily over time, indicating workforce </a:t>
            </a:r>
            <a:r>
              <a:rPr lang="en-US" sz="1600" dirty="0" smtClean="0"/>
              <a:t>growth</a:t>
            </a:r>
            <a:r>
              <a:rPr lang="en-US" sz="1500" dirty="0" smtClean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0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500" b="1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Highest hiring year:</a:t>
            </a:r>
            <a:r>
              <a:rPr lang="en-US" sz="1500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 Peak year labelled on chart (annotated in dashboard) — suggests targeted recruitment or growth initiatives that year.</a:t>
            </a:r>
            <a:endParaRPr lang="en-US" sz="140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500" b="1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Lowest hiring year:</a:t>
            </a:r>
            <a:r>
              <a:rPr lang="en-US" sz="1500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 Earliest years in dataset show lower counts (smaller workforce base).</a:t>
            </a:r>
            <a:endParaRPr lang="en-US" sz="140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500" b="1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Workforce growth pattern:</a:t>
            </a:r>
            <a:r>
              <a:rPr lang="en-US" sz="1500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 Overall gradual growth with episodic surges — recommend correlating with business events (product launches, expansions).</a:t>
            </a:r>
            <a:endParaRPr lang="en-US" sz="1400" dirty="0"/>
          </a:p>
        </p:txBody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C85CECF3-6555-7566-032E-77DD3BB021F7}"/>
              </a:ext>
            </a:extLst>
          </p:cNvPr>
          <p:cNvSpPr/>
          <p:nvPr/>
        </p:nvSpPr>
        <p:spPr>
          <a:xfrm>
            <a:off x="5658864" y="5089142"/>
            <a:ext cx="5424771" cy="1113537"/>
          </a:xfrm>
          <a:prstGeom prst="roundRect">
            <a:avLst>
              <a:gd name="adj" fmla="val 2838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9" name="Image 1" descr="preencoded.png">
            <a:extLst>
              <a:ext uri="{FF2B5EF4-FFF2-40B4-BE49-F238E27FC236}">
                <a16:creationId xmlns:a16="http://schemas.microsoft.com/office/drawing/2014/main" id="{69AE08DD-EE82-C2F7-6BEF-AB0037712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341" y="5307474"/>
            <a:ext cx="166092" cy="132904"/>
          </a:xfrm>
          <a:prstGeom prst="rect">
            <a:avLst/>
          </a:prstGeom>
        </p:spPr>
      </p:pic>
      <p:sp>
        <p:nvSpPr>
          <p:cNvPr id="20" name="Text 3">
            <a:extLst>
              <a:ext uri="{FF2B5EF4-FFF2-40B4-BE49-F238E27FC236}">
                <a16:creationId xmlns:a16="http://schemas.microsoft.com/office/drawing/2014/main" id="{A99B8D8B-E4A2-3CBF-25FD-9FC746483E2D}"/>
              </a:ext>
            </a:extLst>
          </p:cNvPr>
          <p:cNvSpPr/>
          <p:nvPr/>
        </p:nvSpPr>
        <p:spPr>
          <a:xfrm>
            <a:off x="6096000" y="5234400"/>
            <a:ext cx="377279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Insight: Use hiring trend to forecast hiring needs and budget timing; combine with attrition to get net workforce change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99CE697-334A-21E2-AB38-94151FA464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741" y="1482436"/>
            <a:ext cx="4357293" cy="311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758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834CC77-A0D6-6BA3-FAB9-50DA2E26DE5A}"/>
              </a:ext>
            </a:extLst>
          </p:cNvPr>
          <p:cNvSpPr/>
          <p:nvPr/>
        </p:nvSpPr>
        <p:spPr>
          <a:xfrm>
            <a:off x="509974" y="471765"/>
            <a:ext cx="8377238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01014"/>
                </a:solidFill>
                <a:latin typeface="Segoe UI" pitchFamily="34" charset="0"/>
                <a:ea typeface="Playfair Display Bold" pitchFamily="34" charset="-122"/>
                <a:cs typeface="Playfair Display Bold" pitchFamily="34" charset="-120"/>
              </a:rPr>
              <a:t>Department Analysis — Employees by Department</a:t>
            </a:r>
            <a:endParaRPr lang="en-US" sz="27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E8D3DA3-3922-A021-2AA3-27866080DF53}"/>
              </a:ext>
            </a:extLst>
          </p:cNvPr>
          <p:cNvSpPr/>
          <p:nvPr/>
        </p:nvSpPr>
        <p:spPr>
          <a:xfrm>
            <a:off x="5705340" y="1622501"/>
            <a:ext cx="5447568" cy="300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00" b="1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Distribution:</a:t>
            </a:r>
            <a:r>
              <a:rPr lang="en-US" sz="1500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 Engineering is the largest department (dominant bar), followed by Accounting, Sales, and HR.</a:t>
            </a:r>
            <a:endParaRPr lang="en-US" sz="140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500" b="1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Largest department:</a:t>
            </a:r>
            <a:r>
              <a:rPr lang="en-US" sz="1500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 Engineering — major share of workforce, indicating technical focus and resource concentration.</a:t>
            </a:r>
            <a:endParaRPr lang="en-US" sz="140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500" b="1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Smallest department:</a:t>
            </a:r>
            <a:r>
              <a:rPr lang="en-US" sz="1500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 (smallest visible bar) — may be a strategic support function with limited headcount.</a:t>
            </a:r>
            <a:endParaRPr lang="en-US" sz="140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500" b="1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Resource allocation insights:</a:t>
            </a:r>
            <a:r>
              <a:rPr lang="en-US" sz="1500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 High concentration in Engineering suggests prioritization of technical initiatives; consider staffing balance for cross-functional capacity.</a:t>
            </a:r>
            <a:endParaRPr lang="en-US" sz="14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C83AEB88-0D2E-2697-2836-05EB5CB05FE2}"/>
              </a:ext>
            </a:extLst>
          </p:cNvPr>
          <p:cNvSpPr/>
          <p:nvPr/>
        </p:nvSpPr>
        <p:spPr>
          <a:xfrm>
            <a:off x="5293070" y="5056909"/>
            <a:ext cx="5859838" cy="1390917"/>
          </a:xfrm>
          <a:prstGeom prst="roundRect">
            <a:avLst>
              <a:gd name="adj" fmla="val 2153"/>
            </a:avLst>
          </a:prstGeom>
          <a:solidFill>
            <a:srgbClr val="D5D5DD"/>
          </a:solidFill>
          <a:ln/>
        </p:spPr>
        <p:txBody>
          <a:bodyPr/>
          <a:lstStyle/>
          <a:p>
            <a:pPr>
              <a:lnSpc>
                <a:spcPct val="131000"/>
              </a:lnSpc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        Recommendation: Evaluate hiring and training plans to support                 </a:t>
            </a:r>
          </a:p>
          <a:p>
            <a:pPr>
              <a:lnSpc>
                <a:spcPct val="131000"/>
              </a:lnSpc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        Smaller departments that enable core operations (e.g., </a:t>
            </a:r>
            <a:r>
              <a:rPr lang="en-US" sz="1400" dirty="0" smtClean="0">
                <a:solidFill>
                  <a:srgbClr val="000000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HR, </a:t>
            </a:r>
          </a:p>
          <a:p>
            <a:pPr>
              <a:lnSpc>
                <a:spcPct val="131000"/>
              </a:lnSpc>
            </a:pPr>
            <a:r>
              <a:rPr lang="en-US" sz="1400" dirty="0" smtClean="0">
                <a:solidFill>
                  <a:srgbClr val="000000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        Operations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).</a:t>
            </a:r>
            <a:endParaRPr lang="en-US" sz="1400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AF965EC5-12F0-9818-2121-E20669584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691" y="5158609"/>
            <a:ext cx="171599" cy="1372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A73D35-A23B-8154-61B0-D155B48448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47" y="1525522"/>
            <a:ext cx="4762942" cy="325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156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002F588-85FF-D631-02B1-91D59ABDCBA2}"/>
              </a:ext>
            </a:extLst>
          </p:cNvPr>
          <p:cNvSpPr/>
          <p:nvPr/>
        </p:nvSpPr>
        <p:spPr>
          <a:xfrm>
            <a:off x="496119" y="410766"/>
            <a:ext cx="7104311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01014"/>
                </a:solidFill>
                <a:latin typeface="Segoe UI" pitchFamily="34" charset="0"/>
                <a:ea typeface="Playfair Display Bold" pitchFamily="34" charset="-122"/>
                <a:cs typeface="Playfair Display Bold" pitchFamily="34" charset="-120"/>
              </a:rPr>
              <a:t>Gender Diversity — Employees by Gender</a:t>
            </a:r>
            <a:endParaRPr lang="en-US" sz="27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29A39E1-8826-F623-E063-4AA398AF25D2}"/>
              </a:ext>
            </a:extLst>
          </p:cNvPr>
          <p:cNvSpPr/>
          <p:nvPr/>
        </p:nvSpPr>
        <p:spPr>
          <a:xfrm>
            <a:off x="5819612" y="1654411"/>
            <a:ext cx="5139333" cy="2487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Distribution (dashboard):</a:t>
            </a:r>
            <a:r>
              <a:rPr lang="en-US" sz="1500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 Males and females comprise the majority; a smaller non-conforming segment is present.</a:t>
            </a:r>
            <a:endParaRPr lang="en-US" sz="160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Male %:</a:t>
            </a:r>
            <a:r>
              <a:rPr lang="en-US" sz="1500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 ~46.8% (as visualized)</a:t>
            </a:r>
            <a:endParaRPr lang="en-US" sz="160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Female %:</a:t>
            </a:r>
            <a:r>
              <a:rPr lang="en-US" sz="1500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 ~50.8% (as visualized)</a:t>
            </a:r>
            <a:endParaRPr lang="en-US" sz="160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Non-Conforming %:</a:t>
            </a:r>
            <a:r>
              <a:rPr lang="en-US" sz="1500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 ~2.4% (visible but small)</a:t>
            </a:r>
            <a:endParaRPr lang="en-US" sz="160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Diversity observations:</a:t>
            </a:r>
            <a:r>
              <a:rPr lang="en-US" sz="1500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 Gender balance is near parity with a slight female majority; presence of non-conforming category indicates inclusive data capture.</a:t>
            </a:r>
            <a:endParaRPr lang="en-US" sz="16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53E307CA-70F3-94D5-8C28-CA4F5515FDA5}"/>
              </a:ext>
            </a:extLst>
          </p:cNvPr>
          <p:cNvSpPr/>
          <p:nvPr/>
        </p:nvSpPr>
        <p:spPr>
          <a:xfrm>
            <a:off x="5623559" y="5190902"/>
            <a:ext cx="5335385" cy="1148938"/>
          </a:xfrm>
          <a:prstGeom prst="roundRect">
            <a:avLst>
              <a:gd name="adj" fmla="val 2133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FCD4A41E-9A73-FC09-DBFB-52B1890B2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612" y="5465713"/>
            <a:ext cx="174427" cy="13952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DD81DA36-FB04-1006-A434-E568A8355F6B}"/>
              </a:ext>
            </a:extLst>
          </p:cNvPr>
          <p:cNvSpPr/>
          <p:nvPr/>
        </p:nvSpPr>
        <p:spPr>
          <a:xfrm>
            <a:off x="6096000" y="5349329"/>
            <a:ext cx="3737297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Inclusion insight: Continue supporting inclusive policies and monitor representation in leadership and technical roles.</a:t>
            </a:r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BFF2DE-F10B-79C4-CA52-49865E8378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932" y="1654411"/>
            <a:ext cx="4142391" cy="277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951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C587693C-FD71-E406-107E-5EE8014D4A5D}"/>
              </a:ext>
            </a:extLst>
          </p:cNvPr>
          <p:cNvSpPr/>
          <p:nvPr/>
        </p:nvSpPr>
        <p:spPr>
          <a:xfrm>
            <a:off x="496119" y="596131"/>
            <a:ext cx="755927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01014"/>
                </a:solidFill>
                <a:latin typeface="Segoe UI" pitchFamily="34" charset="0"/>
                <a:ea typeface="Playfair Display Bold" pitchFamily="34" charset="-122"/>
                <a:cs typeface="Playfair Display Bold" pitchFamily="34" charset="-120"/>
              </a:rPr>
              <a:t>State-wise Workforce — Employees by State</a:t>
            </a:r>
            <a:endParaRPr lang="en-US" sz="275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5F28AF54-6E8D-4182-C379-DF783CC88970}"/>
              </a:ext>
            </a:extLst>
          </p:cNvPr>
          <p:cNvSpPr/>
          <p:nvPr/>
        </p:nvSpPr>
        <p:spPr>
          <a:xfrm>
            <a:off x="5810828" y="1897022"/>
            <a:ext cx="4979092" cy="2583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00" b="1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Geographic distribution:</a:t>
            </a:r>
            <a:r>
              <a:rPr lang="en-US" sz="1500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 Workforce concentrated in select states with one clear leader.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b="1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State with highest employees:</a:t>
            </a:r>
            <a:r>
              <a:rPr lang="en-US" sz="1500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 Ohio — the largest bar on the chart (primary geographic hub).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b="1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Concentration insight:</a:t>
            </a:r>
            <a:r>
              <a:rPr lang="en-US" sz="1500" dirty="0">
                <a:solidFill>
                  <a:srgbClr val="39393C"/>
                </a:solidFill>
                <a:latin typeface="Segoe UI" pitchFamily="34" charset="0"/>
                <a:ea typeface="Open Sans" pitchFamily="34" charset="-122"/>
                <a:cs typeface="Open Sans" pitchFamily="34" charset="-120"/>
              </a:rPr>
              <a:t> High regional concentration can simplify local HR operations but increases exposure to regional labor risks.</a:t>
            </a:r>
            <a:endParaRPr lang="en-US" sz="1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3B23B40-8739-D929-13C1-8CCBDC793E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894" y="1751794"/>
            <a:ext cx="4327773" cy="2891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692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81C8-E777-C62C-0C62-47F336D8E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6366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Segoe UI"/>
              </a:rPr>
              <a:t>Employees By Race:</a:t>
            </a:r>
            <a:endParaRPr lang="en-IN" sz="36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624697-45A8-6C03-D920-C73D0D0E006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25625"/>
            <a:ext cx="4044199" cy="292965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82C233-C2DC-487A-6D47-4020A3CC43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8757" y="1825624"/>
            <a:ext cx="5881255" cy="4255135"/>
          </a:xfrm>
        </p:spPr>
        <p:txBody>
          <a:bodyPr>
            <a:normAutofit/>
          </a:bodyPr>
          <a:lstStyle/>
          <a:p>
            <a:r>
              <a:rPr lang="en-IN" sz="1500" b="1" dirty="0">
                <a:latin typeface="Segoe UI"/>
              </a:rPr>
              <a:t>Insights – Employees by Race</a:t>
            </a:r>
          </a:p>
          <a:p>
            <a:r>
              <a:rPr lang="en-IN" sz="1500" dirty="0">
                <a:latin typeface="Segoe UI"/>
              </a:rPr>
              <a:t>White employees have the highest representation, making up the largest employee group in the organization. </a:t>
            </a:r>
          </a:p>
          <a:p>
            <a:r>
              <a:rPr lang="en-IN" sz="1500" dirty="0">
                <a:latin typeface="Segoe UI"/>
              </a:rPr>
              <a:t>Two or More Races, Black, and Asian employees show strong presence, contributing significantly to workforce diversity. </a:t>
            </a:r>
          </a:p>
          <a:p>
            <a:r>
              <a:rPr lang="en-IN" sz="1500" dirty="0">
                <a:latin typeface="Segoe UI"/>
              </a:rPr>
              <a:t>Hispanic or Latino employees have moderate representation compared to the top employee groups. </a:t>
            </a:r>
          </a:p>
          <a:p>
            <a:r>
              <a:rPr lang="en-IN" sz="1500" dirty="0">
                <a:latin typeface="Segoe UI"/>
              </a:rPr>
              <a:t>American Indian and Native Hawaiian groups have lower employee counts, showing limited representation. </a:t>
            </a:r>
          </a:p>
          <a:p>
            <a:r>
              <a:rPr lang="en-IN" sz="1500" dirty="0">
                <a:latin typeface="Segoe UI"/>
              </a:rPr>
              <a:t>The workforce shows diversity but is concentrated among few categories, highlighting opportunities for more inclusive hiring.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0761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94080" y="474345"/>
            <a:ext cx="10530840" cy="4678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/>
              <a:t>Conclusion:</a:t>
            </a:r>
          </a:p>
          <a:p>
            <a:endParaRPr lang="en-US" b="1" dirty="0"/>
          </a:p>
          <a:p>
            <a:r>
              <a:rPr lang="en-US" sz="1600" dirty="0"/>
              <a:t>This HR Analytics Dashboard project successfully analyzed a workforce of </a:t>
            </a:r>
            <a:r>
              <a:rPr lang="en-US" sz="1600" b="1" dirty="0"/>
              <a:t>22,214 employees</a:t>
            </a:r>
            <a:r>
              <a:rPr lang="en-US" sz="1600" dirty="0"/>
              <a:t> using </a:t>
            </a:r>
            <a:r>
              <a:rPr lang="en-US" sz="1600" b="1" dirty="0"/>
              <a:t>Power BI, SQL, Excel, Power Query, and DAX</a:t>
            </a:r>
            <a:r>
              <a:rPr lang="en-US" sz="1600" dirty="0"/>
              <a:t>. The analysis provided valuable insights into employee demographics, workforce distribution, hiring trends, gender diversity, and geographic concentration.</a:t>
            </a:r>
          </a:p>
          <a:p>
            <a:r>
              <a:rPr lang="en-US" sz="1600" dirty="0"/>
              <a:t>Key findings revealed that </a:t>
            </a:r>
            <a:r>
              <a:rPr lang="en-US" sz="1600" b="1" dirty="0"/>
              <a:t>24.75% of employees work remotely</a:t>
            </a:r>
            <a:r>
              <a:rPr lang="en-US" sz="1600" dirty="0"/>
              <a:t>, while </a:t>
            </a:r>
            <a:r>
              <a:rPr lang="en-US" sz="1600" b="1" dirty="0"/>
              <a:t>75.25% are based at headquarters</a:t>
            </a:r>
            <a:r>
              <a:rPr lang="en-US" sz="1600" dirty="0"/>
              <a:t>, indicating a predominantly on-site workforce. The workforce has an </a:t>
            </a:r>
            <a:r>
              <a:rPr lang="en-US" sz="1600" b="1" dirty="0"/>
              <a:t>average age of 38.43 years</a:t>
            </a:r>
            <a:r>
              <a:rPr lang="en-US" sz="1600" dirty="0"/>
              <a:t>, reflecting a strong mid-career employee base, and approximately </a:t>
            </a:r>
            <a:r>
              <a:rPr lang="en-US" sz="1600" b="1" dirty="0"/>
              <a:t>18,000 employees are currently active</a:t>
            </a:r>
            <a:r>
              <a:rPr lang="en-US" sz="1600" dirty="0"/>
              <a:t>, demonstrating workforce stability. Additionally, </a:t>
            </a:r>
            <a:r>
              <a:rPr lang="en-US" sz="1600" b="1" dirty="0"/>
              <a:t>Engineering emerged as the largest department</a:t>
            </a:r>
            <a:r>
              <a:rPr lang="en-US" sz="1600" dirty="0"/>
              <a:t>, gender representation was nearly balanced, and </a:t>
            </a:r>
            <a:r>
              <a:rPr lang="en-US" sz="1600" b="1" dirty="0"/>
              <a:t>Ohio showed the highest employee concentration</a:t>
            </a:r>
            <a:r>
              <a:rPr lang="en-US" sz="1600" dirty="0"/>
              <a:t>.</a:t>
            </a:r>
          </a:p>
          <a:p>
            <a:r>
              <a:rPr lang="en-US" sz="1600" dirty="0"/>
              <a:t>Overall, the dashboard transforms raw HR data into meaningful business insights, enabling data-driven decision-making for workforce planning, diversity initiatives, recruitment strategies, and organizational growth. This project demonstrates how analytics can support HR leaders in making informed and strategic workforce decisions</a:t>
            </a:r>
            <a:r>
              <a:rPr lang="en-US" sz="1600" dirty="0" smtClean="0"/>
              <a:t>.</a:t>
            </a:r>
          </a:p>
          <a:p>
            <a:endParaRPr lang="en-US" sz="1600" dirty="0"/>
          </a:p>
          <a:p>
            <a:endParaRPr lang="en-US" sz="1600" dirty="0"/>
          </a:p>
          <a:p>
            <a:pPr algn="ctr"/>
            <a:r>
              <a:rPr lang="en-IN" sz="2800" b="1" dirty="0"/>
              <a:t>THANK YOU..!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24052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989</Words>
  <Application>Microsoft Office PowerPoint</Application>
  <PresentationFormat>Widescreen</PresentationFormat>
  <Paragraphs>76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Open Sans</vt:lpstr>
      <vt:lpstr>Playfair Display Bold</vt:lpstr>
      <vt:lpstr>Segoe UI</vt:lpstr>
      <vt:lpstr>Office Theme</vt:lpstr>
      <vt:lpstr>HR Analytics Dashboard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Employees By Race: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Analytics Dashboard </dc:title>
  <dc:creator>Barinela Mahendra</dc:creator>
  <cp:lastModifiedBy>Admin</cp:lastModifiedBy>
  <cp:revision>11</cp:revision>
  <dcterms:created xsi:type="dcterms:W3CDTF">2026-06-22T09:23:30Z</dcterms:created>
  <dcterms:modified xsi:type="dcterms:W3CDTF">2026-06-24T15:45:15Z</dcterms:modified>
</cp:coreProperties>
</file>